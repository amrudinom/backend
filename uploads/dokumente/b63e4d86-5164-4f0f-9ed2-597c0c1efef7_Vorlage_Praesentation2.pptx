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288"/>
    <a:srgbClr val="D8D8DA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408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07.01.2026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07.01.2026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2227" y="1463400"/>
            <a:ext cx="6599546" cy="39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>
          <a:xfrm>
            <a:off x="217960" y="216000"/>
            <a:ext cx="8708080" cy="642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2227" y="1463400"/>
            <a:ext cx="6599546" cy="39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4971" y="551477"/>
            <a:ext cx="7938000" cy="1943630"/>
          </a:xfrm>
        </p:spPr>
        <p:txBody>
          <a:bodyPr anchor="b">
            <a:noAutofit/>
          </a:bodyPr>
          <a:lstStyle>
            <a:lvl1pPr algn="l">
              <a:defRPr sz="4500" baseline="0">
                <a:latin typeface="Arial Black" panose="020B0A04020102020204" pitchFamily="34" charset="0"/>
              </a:defRPr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den Titel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6045" y="3879265"/>
            <a:ext cx="7926926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AT" noProof="0" dirty="0"/>
              <a:t>Platz für Details und Erklärungen zum Thema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5957925" y="5472268"/>
            <a:ext cx="1385047" cy="7704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305" y="5191200"/>
            <a:ext cx="2115244" cy="1260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1069" y="2412000"/>
            <a:ext cx="1730551" cy="1501200"/>
          </a:xfrm>
          <a:prstGeom prst="rect">
            <a:avLst/>
          </a:prstGeom>
        </p:spPr>
      </p:pic>
      <p:sp>
        <p:nvSpPr>
          <p:cNvPr id="12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181509" y="2623322"/>
            <a:ext cx="6301462" cy="1130300"/>
          </a:xfrm>
        </p:spPr>
        <p:txBody>
          <a:bodyPr anchor="ctr"/>
          <a:lstStyle>
            <a:lvl1pPr marL="0" indent="0">
              <a:buNone/>
              <a:defRPr baseline="0">
                <a:latin typeface="+mj-lt"/>
              </a:defRPr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lang="de-AT" dirty="0"/>
              <a:t>Platz für einen Untertitel</a:t>
            </a:r>
          </a:p>
        </p:txBody>
      </p:sp>
      <p:pic>
        <p:nvPicPr>
          <p:cNvPr id="5" name="Bild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5539" y="5468397"/>
            <a:ext cx="1057432" cy="77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50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460" y="4810654"/>
            <a:ext cx="7924140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AT" noProof="0" dirty="0"/>
              <a:t>Platz für Details und Erklärungen zum Thema.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543600" y="1181193"/>
            <a:ext cx="7938000" cy="22262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AT" noProof="0" dirty="0"/>
              <a:t>Platz für </a:t>
            </a:r>
            <a:br>
              <a:rPr lang="de-AT" noProof="0" dirty="0"/>
            </a:br>
            <a:r>
              <a:rPr lang="de-AT" noProof="0" dirty="0"/>
              <a:t>den Titel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0000" y="3314568"/>
            <a:ext cx="1730551" cy="1501200"/>
          </a:xfrm>
          <a:prstGeom prst="rect">
            <a:avLst/>
          </a:prstGeom>
        </p:spPr>
      </p:pic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180551" y="3543300"/>
            <a:ext cx="6301462" cy="1130300"/>
          </a:xfrm>
        </p:spPr>
        <p:txBody>
          <a:bodyPr anchor="ctr"/>
          <a:lstStyle>
            <a:lvl1pPr marL="0" indent="0">
              <a:buNone/>
              <a:defRPr baseline="0">
                <a:latin typeface="+mj-lt"/>
              </a:defRPr>
            </a:lvl1pPr>
          </a:lstStyle>
          <a:p>
            <a:pPr marL="324000" marR="0" lvl="0" indent="-324000" algn="l" defTabSz="914400" rtl="0" eaLnBrk="1" fontAlgn="auto" latinLnBrk="0" hangingPunct="1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lang="de-AT" dirty="0"/>
              <a:t>Platz für einen Untertitel</a:t>
            </a:r>
          </a:p>
        </p:txBody>
      </p:sp>
    </p:spTree>
    <p:extLst>
      <p:ext uri="{BB962C8B-B14F-4D97-AF65-F5344CB8AC3E}">
        <p14:creationId xmlns:p14="http://schemas.microsoft.com/office/powerpoint/2010/main" val="31764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43600" y="1936933"/>
            <a:ext cx="7938000" cy="470091"/>
          </a:xfrm>
        </p:spPr>
        <p:txBody>
          <a:bodyPr/>
          <a:lstStyle>
            <a:lvl1pPr>
              <a:defRPr/>
            </a:lvl1pPr>
          </a:lstStyle>
          <a:p>
            <a:r>
              <a:rPr lang="de-AT" noProof="0" dirty="0"/>
              <a:t>In Kooperation mit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3852000" y="26722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5443236" y="2672237"/>
            <a:ext cx="1440000" cy="1440000"/>
          </a:xfr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15" hasCustomPrompt="1"/>
          </p:nvPr>
        </p:nvSpPr>
        <p:spPr>
          <a:xfrm>
            <a:off x="7039492" y="2672237"/>
            <a:ext cx="1440000" cy="1440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656621" y="26722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2271800" y="2671200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8" hasCustomPrompt="1"/>
          </p:nvPr>
        </p:nvSpPr>
        <p:spPr>
          <a:xfrm>
            <a:off x="3852000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9" hasCustomPrompt="1"/>
          </p:nvPr>
        </p:nvSpPr>
        <p:spPr>
          <a:xfrm>
            <a:off x="5443236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4" name="Bildplatzhalter 6"/>
          <p:cNvSpPr>
            <a:spLocks noGrp="1"/>
          </p:cNvSpPr>
          <p:nvPr>
            <p:ph type="pic" sz="quarter" idx="20" hasCustomPrompt="1"/>
          </p:nvPr>
        </p:nvSpPr>
        <p:spPr>
          <a:xfrm>
            <a:off x="7039492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5" name="Bildplatzhalter 6"/>
          <p:cNvSpPr>
            <a:spLocks noGrp="1"/>
          </p:cNvSpPr>
          <p:nvPr>
            <p:ph type="pic" sz="quarter" idx="21" hasCustomPrompt="1"/>
          </p:nvPr>
        </p:nvSpPr>
        <p:spPr>
          <a:xfrm>
            <a:off x="656621" y="4272437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6" name="Bildplatzhalter 6"/>
          <p:cNvSpPr>
            <a:spLocks noGrp="1"/>
          </p:cNvSpPr>
          <p:nvPr>
            <p:ph type="pic" sz="quarter" idx="22" hasCustomPrompt="1"/>
          </p:nvPr>
        </p:nvSpPr>
        <p:spPr>
          <a:xfrm>
            <a:off x="2271800" y="4271400"/>
            <a:ext cx="1440000" cy="14400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907" y="403200"/>
            <a:ext cx="211524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49322" y="1779938"/>
            <a:ext cx="7938000" cy="4424400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000"/>
              </a:spcBef>
              <a:buFontTx/>
              <a:buNone/>
              <a:defRPr lang="de-AT" sz="1700" kern="1200" baseline="0" noProof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266700">
              <a:lnSpc>
                <a:spcPct val="105000"/>
              </a:lnSpc>
              <a:spcBef>
                <a:spcPts val="0"/>
              </a:spcBef>
              <a:buFont typeface="Wingdings 2" panose="05020102010507070707" pitchFamily="18" charset="2"/>
              <a:buChar char=""/>
              <a:defRPr sz="1500"/>
            </a:lvl2pPr>
          </a:lstStyle>
          <a:p>
            <a:pPr lvl="0"/>
            <a:r>
              <a:rPr lang="de-AT" noProof="0" dirty="0"/>
              <a:t>Kapitel 1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  <a:p>
            <a:pPr marL="0" lv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  <a:buSzPct val="90000"/>
              <a:buFontTx/>
              <a:buNone/>
            </a:pPr>
            <a:r>
              <a:rPr lang="de-AT" noProof="0" dirty="0"/>
              <a:t>Kapitel 2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  <a:p>
            <a:pPr marL="0" lvl="0" indent="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  <a:buSzPct val="90000"/>
              <a:buFontTx/>
              <a:buNone/>
            </a:pPr>
            <a:r>
              <a:rPr lang="de-AT" noProof="0" dirty="0"/>
              <a:t>Kapitel 3</a:t>
            </a:r>
          </a:p>
          <a:p>
            <a:pPr lvl="1"/>
            <a:r>
              <a:rPr lang="de-AT" noProof="0" dirty="0"/>
              <a:t>Unterkapitel 1</a:t>
            </a:r>
          </a:p>
          <a:p>
            <a:pPr lvl="1"/>
            <a:r>
              <a:rPr lang="de-AT" noProof="0" dirty="0"/>
              <a:t>Unterkapitel 2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49322" y="651700"/>
            <a:ext cx="7938194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noProof="0" dirty="0"/>
              <a:t>Platz für</a:t>
            </a:r>
            <a:br>
              <a:rPr lang="de-DE" noProof="0" dirty="0"/>
            </a:br>
            <a:r>
              <a:rPr lang="de-DE" noProof="0" dirty="0"/>
              <a:t>EINE ÜBERSICHT / AGENDA</a:t>
            </a:r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Bild / etc. mit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Text, Bilder, etc.</a:t>
            </a:r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48268" y="5927411"/>
            <a:ext cx="7925378" cy="278642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fld id="{DFB297D7-21D1-0549-A74D-BD032133048A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7925378" cy="4150016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/ Bild / etc. ohne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Text, Bilder, etc.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7925378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dirty="0"/>
              <a:t>Felician Tröbinger	</a:t>
            </a:r>
            <a:r>
              <a:rPr lang="de-AT" dirty="0" err="1"/>
              <a:t>534.E76</a:t>
            </a:r>
            <a:endParaRPr lang="de-AT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/>
            </a:lvl1pPr>
          </a:lstStyle>
          <a:p>
            <a:fld id="{2FCA2C60-3929-1D49-B29C-C60A97789EE3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/>
              <a:t>Titel und vergleich</a:t>
            </a:r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48268" y="1777395"/>
            <a:ext cx="37944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  <p:sp>
        <p:nvSpPr>
          <p:cNvPr id="14" name="Content Placeholder 2"/>
          <p:cNvSpPr>
            <a:spLocks noGrp="1"/>
          </p:cNvSpPr>
          <p:nvPr>
            <p:ph idx="17"/>
          </p:nvPr>
        </p:nvSpPr>
        <p:spPr>
          <a:xfrm>
            <a:off x="4693116" y="1777395"/>
            <a:ext cx="37944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 mit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800" y="651700"/>
            <a:ext cx="7938000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50800" y="1778400"/>
            <a:ext cx="5184000" cy="4427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50800" y="5927411"/>
            <a:ext cx="51840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55200" y="1778400"/>
            <a:ext cx="24336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 ohne Qu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800" y="651700"/>
            <a:ext cx="7938000" cy="93869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50800" y="1778400"/>
            <a:ext cx="5184000" cy="44271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055200" y="1778400"/>
            <a:ext cx="24336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AT" noProof="0" dirty="0"/>
              <a:t>Platz für</a:t>
            </a:r>
            <a:br>
              <a:rPr lang="de-AT" noProof="0" dirty="0"/>
            </a:br>
            <a:r>
              <a:rPr lang="de-AT" noProof="0" dirty="0" err="1"/>
              <a:t>titel</a:t>
            </a:r>
            <a:r>
              <a:rPr lang="de-AT" noProof="0" dirty="0"/>
              <a:t>, 3 kleine </a:t>
            </a:r>
            <a:r>
              <a:rPr lang="de-AT" noProof="0" dirty="0" err="1"/>
              <a:t>bilder</a:t>
            </a:r>
            <a:r>
              <a:rPr lang="de-AT" noProof="0" dirty="0"/>
              <a:t> und </a:t>
            </a:r>
            <a:r>
              <a:rPr lang="de-AT" noProof="0" dirty="0" err="1"/>
              <a:t>text</a:t>
            </a:r>
            <a:endParaRPr lang="de-AT" noProof="0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49322" y="1777809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49322" y="3309042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49322" y="4834936"/>
            <a:ext cx="2414023" cy="136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6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4" name="Rechteck 13"/>
          <p:cNvSpPr/>
          <p:nvPr userDrawn="1"/>
        </p:nvSpPr>
        <p:spPr>
          <a:xfrm>
            <a:off x="3683660" y="1444171"/>
            <a:ext cx="4699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3404316" y="1777809"/>
            <a:ext cx="50832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, schmales </a:t>
            </a:r>
            <a:r>
              <a:rPr lang="de-DE" dirty="0" err="1"/>
              <a:t>bild</a:t>
            </a:r>
            <a:r>
              <a:rPr lang="de-DE" dirty="0"/>
              <a:t> und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49322" y="1778467"/>
            <a:ext cx="2418223" cy="442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404316" y="1777809"/>
            <a:ext cx="5083200" cy="4428658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200"/>
              </a:spcBef>
              <a:spcAft>
                <a:spcPts val="4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</a:lstStyle>
          <a:p>
            <a:pPr lvl="0"/>
            <a:r>
              <a:rPr lang="de-DE" noProof="0"/>
              <a:t>Formatvorlagen des Textmasters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oßes Image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</a:t>
            </a:r>
            <a:r>
              <a:rPr lang="de-DE" dirty="0" err="1"/>
              <a:t>grosses</a:t>
            </a:r>
            <a:r>
              <a:rPr lang="de-DE" dirty="0"/>
              <a:t> </a:t>
            </a:r>
            <a:r>
              <a:rPr lang="de-DE" dirty="0" err="1"/>
              <a:t>imagebild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Formeln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1598864" y="1775981"/>
            <a:ext cx="5940000" cy="4172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98864" y="5948381"/>
            <a:ext cx="5940000" cy="252000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 err="1"/>
              <a:t>titel</a:t>
            </a:r>
            <a:r>
              <a:rPr lang="de-DE" dirty="0"/>
              <a:t> und </a:t>
            </a:r>
            <a:r>
              <a:rPr lang="de-DE" dirty="0" err="1"/>
              <a:t>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49322" y="1785900"/>
            <a:ext cx="7935578" cy="4172400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4" hasCustomPrompt="1"/>
          </p:nvPr>
        </p:nvSpPr>
        <p:spPr>
          <a:xfrm>
            <a:off x="1549400" y="6356350"/>
            <a:ext cx="763200" cy="352800"/>
          </a:xfrm>
        </p:spPr>
        <p:txBody>
          <a:bodyPr lIns="36000" tIns="72000" bIns="0">
            <a:noAutofit/>
          </a:bodyPr>
          <a:lstStyle>
            <a:lvl1pPr marL="0" indent="0">
              <a:lnSpc>
                <a:spcPts val="900"/>
              </a:lnSpc>
              <a:spcBef>
                <a:spcPts val="0"/>
              </a:spcBef>
              <a:buNone/>
              <a:defRPr sz="800" baseline="0"/>
            </a:lvl1pPr>
          </a:lstStyle>
          <a:p>
            <a:r>
              <a:rPr lang="de-AT" dirty="0"/>
              <a:t>Platz für ein Partnerlogo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49322" y="5958300"/>
            <a:ext cx="7935578" cy="252000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AT" noProof="0" dirty="0"/>
              <a:t>Platz für Autor und LVA-Nummer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460" y="4810654"/>
            <a:ext cx="6333450" cy="84507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7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543600" y="1181193"/>
            <a:ext cx="6333450" cy="222628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ein danke</a:t>
            </a:r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339" t="15819" r="44018" b="42469"/>
          <a:stretch/>
        </p:blipFill>
        <p:spPr>
          <a:xfrm>
            <a:off x="450000" y="3314568"/>
            <a:ext cx="1730551" cy="1501200"/>
          </a:xfrm>
          <a:prstGeom prst="rect">
            <a:avLst/>
          </a:prstGeom>
        </p:spPr>
      </p:pic>
      <p:sp>
        <p:nvSpPr>
          <p:cNvPr id="6" name="Textfeld 5"/>
          <p:cNvSpPr txBox="1"/>
          <p:nvPr userDrawn="1"/>
        </p:nvSpPr>
        <p:spPr>
          <a:xfrm>
            <a:off x="7179820" y="5554800"/>
            <a:ext cx="1380286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tx1"/>
                </a:solidFill>
                <a:latin typeface="+mn-lt"/>
              </a:rPr>
              <a:t>www.jku.at</a:t>
            </a:r>
            <a:endParaRPr lang="de-AT" sz="8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907" y="403200"/>
            <a:ext cx="211524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39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322" y="651700"/>
            <a:ext cx="7938194" cy="9386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AT" noProof="0" dirty="0"/>
              <a:t>TitelmUsterformat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646" y="1777395"/>
            <a:ext cx="7938000" cy="4428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AT" noProof="0" dirty="0"/>
              <a:t>Textmasterformat bearbeiten</a:t>
            </a:r>
          </a:p>
          <a:p>
            <a:pPr lvl="1"/>
            <a:r>
              <a:rPr lang="de-AT" noProof="0" dirty="0"/>
              <a:t>Zweite Ebene</a:t>
            </a:r>
          </a:p>
          <a:p>
            <a:pPr lvl="2"/>
            <a:r>
              <a:rPr lang="de-AT" noProof="0" dirty="0"/>
              <a:t>Dritte Ebene</a:t>
            </a:r>
          </a:p>
          <a:p>
            <a:pPr lvl="3"/>
            <a:r>
              <a:rPr lang="de-AT" noProof="0" dirty="0"/>
              <a:t>Vierte Ebene</a:t>
            </a:r>
          </a:p>
          <a:p>
            <a:pPr lvl="4"/>
            <a:r>
              <a:rPr lang="de-AT" noProof="0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86433" y="6397200"/>
            <a:ext cx="11734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 dirty="0"/>
              <a:t>01.02.2018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3550" y="639554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AT" dirty="0"/>
              <a:t>Felician Tröbinger	</a:t>
            </a:r>
            <a:r>
              <a:rPr lang="de-AT" dirty="0" err="1"/>
              <a:t>534.E76</a:t>
            </a:r>
            <a:endParaRPr lang="de-AT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87836" y="6395540"/>
            <a:ext cx="514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fld id="{977D763E-6462-E748-A364-8301CFB7D350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91" t="9873" r="13244" b="34352"/>
          <a:stretch/>
        </p:blipFill>
        <p:spPr>
          <a:xfrm>
            <a:off x="600037" y="6326089"/>
            <a:ext cx="914352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9" r:id="rId2"/>
    <p:sldLayoutId id="2147483668" r:id="rId3"/>
    <p:sldLayoutId id="2147483661" r:id="rId4"/>
    <p:sldLayoutId id="2147483669" r:id="rId5"/>
    <p:sldLayoutId id="2147483670" r:id="rId6"/>
    <p:sldLayoutId id="2147483662" r:id="rId7"/>
    <p:sldLayoutId id="2147483681" r:id="rId8"/>
    <p:sldLayoutId id="2147483664" r:id="rId9"/>
    <p:sldLayoutId id="2147483683" r:id="rId10"/>
    <p:sldLayoutId id="2147483684" r:id="rId11"/>
    <p:sldLayoutId id="2147483675" r:id="rId12"/>
    <p:sldLayoutId id="2147483674" r:id="rId13"/>
    <p:sldLayoutId id="2147483666" r:id="rId14"/>
    <p:sldLayoutId id="2147483672" r:id="rId15"/>
    <p:sldLayoutId id="2147483673" r:id="rId16"/>
    <p:sldLayoutId id="2147483680" r:id="rId17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324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90000"/>
        <a:buFont typeface="Wingdings 2" panose="05020102010507070707" pitchFamily="18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24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SzPct val="90000"/>
        <a:buFont typeface="Wingdings 2" panose="05020102010507070707" pitchFamily="18" charset="2"/>
        <a:buChar char="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6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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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000" indent="-2880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Wingdings 2" panose="05020102010507070707" pitchFamily="18" charset="2"/>
        <a:buChar char="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4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4065E5-3E81-B717-BBD0-3CD83442AE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Palantir´s foundry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ED563F5-47B0-8652-5D58-A3A1E0E871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2E39210-B9D2-0C5E-C0D7-7AEA31CEC1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AA48EC-C76C-A080-C022-69BC57E29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Secondary Health Data Use </a:t>
            </a:r>
          </a:p>
        </p:txBody>
      </p:sp>
    </p:spTree>
    <p:extLst>
      <p:ext uri="{BB962C8B-B14F-4D97-AF65-F5344CB8AC3E}">
        <p14:creationId xmlns:p14="http://schemas.microsoft.com/office/powerpoint/2010/main" val="247065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2EC3B-C42B-FE5D-8A59-3A762614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Secondary use of health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C54445-94EF-6BFD-4ABF-E0453A4C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Secondary use of health data is a critical driver for </a:t>
            </a:r>
            <a:r>
              <a:rPr lang="en-US" noProof="0" dirty="0" err="1"/>
              <a:t>inovation</a:t>
            </a:r>
            <a:r>
              <a:rPr lang="en-US" noProof="0" dirty="0"/>
              <a:t> in the health sector </a:t>
            </a:r>
          </a:p>
          <a:p>
            <a:r>
              <a:rPr lang="en-US" noProof="0" dirty="0"/>
              <a:t>Is used in: </a:t>
            </a:r>
          </a:p>
          <a:p>
            <a:pPr lvl="1"/>
            <a:r>
              <a:rPr lang="en-US" noProof="0" dirty="0"/>
              <a:t>Research</a:t>
            </a:r>
          </a:p>
          <a:p>
            <a:pPr lvl="1"/>
            <a:r>
              <a:rPr lang="en-US" noProof="0" dirty="0"/>
              <a:t>Analysis of certain population groups</a:t>
            </a:r>
          </a:p>
          <a:p>
            <a:pPr lvl="1"/>
            <a:r>
              <a:rPr lang="en-US" noProof="0" dirty="0"/>
              <a:t>Resource planning</a:t>
            </a:r>
          </a:p>
          <a:p>
            <a:r>
              <a:rPr lang="en-US" noProof="0" dirty="0"/>
              <a:t>Governments and research institutes use analytic platforms to determinate the value of health data</a:t>
            </a:r>
          </a:p>
          <a:p>
            <a:endParaRPr lang="en-US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CC33750-FB7D-C2E2-B1C0-954EFA3260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EB0D34-0F81-AB58-CED3-65B6D56F5EE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FFD28F-098A-2564-5979-7E58C8B249C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128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99FB25-946B-0910-7453-DB751F51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</a:t>
            </a:r>
            <a:r>
              <a:rPr lang="en-US" noProof="0" dirty="0" err="1"/>
              <a:t>palantir</a:t>
            </a:r>
            <a:r>
              <a:rPr lang="en-US" noProof="0" dirty="0"/>
              <a:t> technologies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0F4A29-0D4E-54EA-7529-AD1869BB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Origin of the company's name is from the Lord of the Rings</a:t>
            </a:r>
          </a:p>
          <a:p>
            <a:pPr lvl="1"/>
            <a:r>
              <a:rPr lang="en-US" noProof="0" dirty="0"/>
              <a:t>Name promises nearly unlimited possibilities for data usage</a:t>
            </a:r>
          </a:p>
          <a:p>
            <a:r>
              <a:rPr lang="en-US" noProof="0" dirty="0"/>
              <a:t>Origin of the firm is the intelligence and military sector</a:t>
            </a:r>
          </a:p>
          <a:p>
            <a:r>
              <a:rPr lang="en-US" noProof="0" dirty="0"/>
              <a:t>Palantir provide multiple platforms</a:t>
            </a:r>
          </a:p>
          <a:p>
            <a:pPr lvl="1"/>
            <a:r>
              <a:rPr lang="en-US" noProof="0" dirty="0"/>
              <a:t>Gotham -&gt; Intelligence and Security sector</a:t>
            </a:r>
          </a:p>
          <a:p>
            <a:pPr lvl="1"/>
            <a:r>
              <a:rPr lang="en-US" noProof="0" dirty="0"/>
              <a:t>Foundry -&gt; Health Sector </a:t>
            </a:r>
          </a:p>
          <a:p>
            <a:pPr lvl="1"/>
            <a:r>
              <a:rPr lang="en-US" noProof="0" dirty="0"/>
              <a:t>Apollo -&gt; Software management platform for SaaS </a:t>
            </a:r>
          </a:p>
          <a:p>
            <a:endParaRPr lang="en-US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95A409A-4D0B-57C0-4AB6-CBCDD5ED64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12A4C7-ACFD-2763-02E3-2FE7F158A37A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8ACD99-1ACE-8EAC-30C4-54601A06E80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854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441A43-8750-BE42-10EA-B3A4D6FD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Palantir´s Foundry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0D1AF8-9137-954E-81E7-FE7C0D0AB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Enables flexible and dynamic ontology-based data modelling</a:t>
            </a:r>
          </a:p>
          <a:p>
            <a:r>
              <a:rPr lang="en-US" noProof="0" dirty="0"/>
              <a:t>Possibilities</a:t>
            </a:r>
          </a:p>
          <a:p>
            <a:pPr lvl="1"/>
            <a:r>
              <a:rPr lang="en-US" noProof="0" dirty="0"/>
              <a:t>Changes data models to it´s analysis needs</a:t>
            </a:r>
          </a:p>
          <a:p>
            <a:pPr lvl="1"/>
            <a:r>
              <a:rPr lang="en-US" noProof="0" dirty="0"/>
              <a:t>Flexible data integration across platforms and sources</a:t>
            </a:r>
          </a:p>
          <a:p>
            <a:pPr lvl="1"/>
            <a:r>
              <a:rPr lang="en-US" noProof="0" dirty="0"/>
              <a:t>Interactive visualization and pattern recognition even in complex data sets</a:t>
            </a:r>
          </a:p>
          <a:p>
            <a:endParaRPr lang="en-US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5D4827E-13BF-8860-119F-E2C207057F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B6F132-AF9E-8333-2EC8-F989B9E8AEE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5CAF58-52D0-1D48-FCF6-E00F1BBCBC1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296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76D0E-BA53-191B-8F02-BD284564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Foundry´s use in the health sector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DFB063-9D3D-6D97-1FE7-59958A0F2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Integration heterogenous datasets</a:t>
            </a:r>
          </a:p>
          <a:p>
            <a:r>
              <a:rPr lang="en-US" noProof="0" dirty="0"/>
              <a:t>Data origin and lineage tracking</a:t>
            </a:r>
          </a:p>
          <a:p>
            <a:pPr lvl="1"/>
            <a:r>
              <a:rPr lang="en-US" noProof="0" dirty="0"/>
              <a:t>More transparency about where datasets come from and how they are constructed</a:t>
            </a:r>
          </a:p>
          <a:p>
            <a:r>
              <a:rPr lang="en-US" noProof="0" dirty="0"/>
              <a:t>Collaboration tools </a:t>
            </a:r>
          </a:p>
          <a:p>
            <a:pPr lvl="1"/>
            <a:r>
              <a:rPr lang="en-US" noProof="0" dirty="0"/>
              <a:t>Shared workspaces for clinics, universities and government agencies</a:t>
            </a:r>
          </a:p>
          <a:p>
            <a:r>
              <a:rPr lang="en-US" noProof="0" dirty="0"/>
              <a:t>Precision based medicine</a:t>
            </a:r>
          </a:p>
          <a:p>
            <a:pPr lvl="1"/>
            <a:r>
              <a:rPr lang="en-US" noProof="0" dirty="0"/>
              <a:t>Integration from genomic, clinical and administrative data</a:t>
            </a:r>
          </a:p>
          <a:p>
            <a:r>
              <a:rPr lang="en-US" noProof="0" dirty="0"/>
              <a:t>Use cases are: </a:t>
            </a:r>
          </a:p>
          <a:p>
            <a:pPr lvl="1"/>
            <a:r>
              <a:rPr lang="en-US" noProof="0" dirty="0"/>
              <a:t>Tracking of infectious diseases (COVID-19)</a:t>
            </a:r>
          </a:p>
          <a:p>
            <a:pPr lvl="1"/>
            <a:r>
              <a:rPr lang="en-US" noProof="0" dirty="0"/>
              <a:t>Prognosis of hospital capacities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8D9E963-E32E-80D1-C42A-F104F3EAC1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104E75-1E2B-2108-0744-80B0397BB0E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2ABEDE-07E3-B3CC-628A-B48DA26BC2B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948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FC2C0-5AAC-A51A-4CD9-482A3DB1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Negative aspects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5D23A-8BF5-894A-DBAD-82821DAD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Survielance based-logic (Seer vs Seen)</a:t>
            </a:r>
          </a:p>
          <a:p>
            <a:r>
              <a:rPr lang="en-US" noProof="0" dirty="0"/>
              <a:t>Re-identification</a:t>
            </a:r>
          </a:p>
          <a:p>
            <a:r>
              <a:rPr lang="en-US" noProof="0" dirty="0"/>
              <a:t>Function Creep </a:t>
            </a:r>
          </a:p>
          <a:p>
            <a:r>
              <a:rPr lang="en-US" noProof="0" dirty="0"/>
              <a:t>Excessive data usage</a:t>
            </a:r>
          </a:p>
          <a:p>
            <a:r>
              <a:rPr lang="en-US" noProof="0" dirty="0"/>
              <a:t>Vendor lock-in</a:t>
            </a:r>
          </a:p>
          <a:p>
            <a:r>
              <a:rPr lang="en-US" noProof="0" dirty="0"/>
              <a:t>Technical in-transparency</a:t>
            </a:r>
          </a:p>
          <a:p>
            <a:r>
              <a:rPr lang="en-US" noProof="0" dirty="0"/>
              <a:t>Loss of public trust</a:t>
            </a:r>
          </a:p>
          <a:p>
            <a:r>
              <a:rPr lang="en-US" noProof="0" dirty="0"/>
              <a:t>Governance challenges</a:t>
            </a:r>
          </a:p>
          <a:p>
            <a:r>
              <a:rPr lang="en-US" noProof="0" dirty="0"/>
              <a:t>Ethical challenges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63C1CA4-B794-44AF-7A88-5D3E4CF3A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3E401A-2491-0129-F3EC-83B5CE59C99A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37FCC1-D246-868B-5CAE-1779346CF8C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2348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93D7F-EBB8-196E-7175-BE8AF208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Possible solutions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22FB33-6E7C-E776-543D-878229B9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Governance structures</a:t>
            </a:r>
          </a:p>
          <a:p>
            <a:r>
              <a:rPr lang="en-US" noProof="0" dirty="0"/>
              <a:t>Transparency in the purchasing process</a:t>
            </a:r>
          </a:p>
          <a:p>
            <a:r>
              <a:rPr lang="en-US" noProof="0" dirty="0"/>
              <a:t>Open standards against vendor lock in </a:t>
            </a:r>
          </a:p>
          <a:p>
            <a:r>
              <a:rPr lang="en-US" noProof="0" dirty="0"/>
              <a:t>Privacy impact assessments </a:t>
            </a:r>
          </a:p>
          <a:p>
            <a:pPr lvl="1"/>
            <a:r>
              <a:rPr lang="en-US" noProof="0" dirty="0"/>
              <a:t>Audits and overseeing algorithmic output</a:t>
            </a:r>
          </a:p>
          <a:p>
            <a:r>
              <a:rPr lang="en-US" noProof="0" dirty="0"/>
              <a:t>Clear definition of usage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AE8BC0D-DDE8-58C0-DA6F-C03DF09648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C4095C-1B07-7E2B-CBB8-68ACB7787E6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noProof="0" dirty="0"/>
              <a:t>Felician Tröbinger	</a:t>
            </a:r>
            <a:r>
              <a:rPr lang="en-US" noProof="0" dirty="0" err="1"/>
              <a:t>534.E76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A895B5-AF48-91D6-A38A-7B9627709EF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FCA2C60-3929-1D49-B29C-C60A97789EE3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285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_WIN_IE Kopie" id="{7309C7A1-9513-6245-992D-BD5F0FCCBA64}" vid="{DBCB829A-915E-2D4F-A73C-073BABE8C67C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Praesentation_Vorlage_WIN_IE</Template>
  <TotalTime>0</TotalTime>
  <Words>307</Words>
  <Application>Microsoft Office PowerPoint</Application>
  <PresentationFormat>Bildschirmpräsentation (4:3)</PresentationFormat>
  <Paragraphs>63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Wingdings 2</vt:lpstr>
      <vt:lpstr>Office-Design</vt:lpstr>
      <vt:lpstr>Palantir´s foundry</vt:lpstr>
      <vt:lpstr>Secondary use of health data</vt:lpstr>
      <vt:lpstr>About palantir technologies</vt:lpstr>
      <vt:lpstr>Palantir´s Foundry</vt:lpstr>
      <vt:lpstr>Foundry´s use in the health sector</vt:lpstr>
      <vt:lpstr>Negative aspects</vt:lpstr>
      <vt:lpstr>Possible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Angela Andorfer</dc:creator>
  <cp:lastModifiedBy>Tröbinger Felician</cp:lastModifiedBy>
  <cp:revision>2</cp:revision>
  <cp:lastPrinted>2015-10-19T12:36:16Z</cp:lastPrinted>
  <dcterms:created xsi:type="dcterms:W3CDTF">2018-04-19T12:56:50Z</dcterms:created>
  <dcterms:modified xsi:type="dcterms:W3CDTF">2026-01-07T13:26:07Z</dcterms:modified>
</cp:coreProperties>
</file>